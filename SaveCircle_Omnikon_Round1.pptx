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2331720"/>
            <a:ext cx="1920240" cy="2208276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9418320" y="3522269"/>
            <a:ext cx="1920240" cy="105613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32797" y="3061411"/>
            <a:ext cx="691286" cy="576072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9802368" y="2788920"/>
            <a:ext cx="1152144" cy="1152144"/>
          </a:xfrm>
          <a:prstGeom prst="ellipse">
            <a:avLst/>
          </a:prstGeom>
          <a:ln w="38100">
            <a:solidFill>
              <a:srgbClr val="1F9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2368" y="2788920"/>
            <a:ext cx="115214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OMNIKON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ID: Omni_FinTech_9  ·  Digitizing Community Savings Groups Securely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SaveCircle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Transparent &amp; Intelligent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Savings Management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A3374"/>
          </a:solidFill>
          <a:ln w="12700">
            <a:solidFill>
              <a:srgbClr val="1F9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91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Financial Inclusion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081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 · [NAME 2] · [NAME 3] · [NAME 4] · [NAME 5]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Community Savings Groups Need Digitization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PROBLEM STATEMENT · Omni_FinTech_9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“Traditional chit funds and community savings groups operate largely on trust and paper records, leaving them vulnerable to disputes and fraud. Build a secure digital solution for managing these groups.”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3949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chit-fund and community savings groups run by members themselves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administrator / treasurer who manually tracks contributions and payouts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depend on that one person's records and memory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22392" cy="4754880"/>
          </a:xfrm>
          <a:prstGeom prst="roundRect">
            <a:avLst>
              <a:gd name="adj" fmla="val 173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GROUPS OPERATE TODAY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collected in cash and logged in a physical register or notebook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relies on trust in the treasurer, not independent records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shared, tamper-evident history that every member can check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who has paid, when, and for which cycle becomes difficult as the group grows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4069080"/>
            <a:ext cx="49377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245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DIGITIZATION IS NEEDED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always-available digital record removes single-person dependency, gives every member the same view of the truth, and creates an objective basis for resolving disagreements — directly addressing the disputes and fraud risk named in the problem statement.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→ Gap → Consequence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1772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1417320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783080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BF3E3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1783080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track &amp; reconcile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0" y="1783080"/>
            <a:ext cx="2953512" cy="749808"/>
          </a:xfrm>
          <a:prstGeom prst="roundRect">
            <a:avLst>
              <a:gd name="adj" fmla="val 9756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51392" y="1783080"/>
            <a:ext cx="2624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among members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6512" y="1783080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65592" y="1783080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2660904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2660904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BF3E3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82312" y="2660904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accountability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2660904"/>
            <a:ext cx="2953512" cy="749808"/>
          </a:xfrm>
          <a:prstGeom prst="roundRect">
            <a:avLst>
              <a:gd name="adj" fmla="val 9756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51392" y="2660904"/>
            <a:ext cx="2624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96512" y="2660904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65592" y="2660904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3538728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" y="3538728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3538728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BF3E3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82312" y="3538728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transparency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0" y="3538728"/>
            <a:ext cx="2953512" cy="749808"/>
          </a:xfrm>
          <a:prstGeom prst="roundRect">
            <a:avLst>
              <a:gd name="adj" fmla="val 9756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51392" y="3538728"/>
            <a:ext cx="2624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Mistrust in the group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96512" y="3538728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65592" y="3538728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48640" y="4416552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" y="4416552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history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17720" y="4416552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BF3E3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82312" y="4416552"/>
            <a:ext cx="32369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audit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0" y="4416552"/>
            <a:ext cx="2953512" cy="749808"/>
          </a:xfrm>
          <a:prstGeom prst="roundRect">
            <a:avLst>
              <a:gd name="adj" fmla="val 9756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51392" y="4416552"/>
            <a:ext cx="2624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conflicts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96512" y="4416552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165592" y="4416552"/>
            <a:ext cx="292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" y="5431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751576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4944" y="592074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" y="59207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72" dirty="0"/>
          </a:p>
        </p:txBody>
      </p:sp>
      <p:sp>
        <p:nvSpPr>
          <p:cNvPr id="43" name="Text 41"/>
          <p:cNvSpPr/>
          <p:nvPr/>
        </p:nvSpPr>
        <p:spPr>
          <a:xfrm>
            <a:off x="1371600" y="584301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Administrator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371600" y="613562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group, verifies contributions, manages the savings cycle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15968" y="5751576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62272" y="592074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462272" y="59207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972" dirty="0"/>
          </a:p>
        </p:txBody>
      </p:sp>
      <p:sp>
        <p:nvSpPr>
          <p:cNvPr id="48" name="Text 46"/>
          <p:cNvSpPr/>
          <p:nvPr/>
        </p:nvSpPr>
        <p:spPr>
          <a:xfrm>
            <a:off x="5138928" y="584301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138928" y="613562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funds, track their own history, receive digital receipts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83296" y="5751576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29600" y="592074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0" y="59207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72" dirty="0"/>
          </a:p>
        </p:txBody>
      </p:sp>
      <p:sp>
        <p:nvSpPr>
          <p:cNvPr id="53" name="Text 51"/>
          <p:cNvSpPr/>
          <p:nvPr/>
        </p:nvSpPr>
        <p:spPr>
          <a:xfrm>
            <a:off x="8906256" y="584301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Group / Community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906256" y="613562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from a shared, trustworthy record everyone can rely 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SaveCircle: 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721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92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group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856232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79676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345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345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92" dirty="0"/>
          </a:p>
        </p:txBody>
      </p:sp>
      <p:sp>
        <p:nvSpPr>
          <p:cNvPr id="12" name="Text 10"/>
          <p:cNvSpPr/>
          <p:nvPr/>
        </p:nvSpPr>
        <p:spPr>
          <a:xfrm>
            <a:off x="1097280" y="1979676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join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418588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968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92" dirty="0"/>
          </a:p>
        </p:txBody>
      </p:sp>
      <p:sp>
        <p:nvSpPr>
          <p:cNvPr id="17" name="Text 15"/>
          <p:cNvSpPr/>
          <p:nvPr/>
        </p:nvSpPr>
        <p:spPr>
          <a:xfrm>
            <a:off x="1097280" y="254203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rules defined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2980944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04388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592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92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92" dirty="0"/>
          </a:p>
        </p:txBody>
      </p:sp>
      <p:sp>
        <p:nvSpPr>
          <p:cNvPr id="22" name="Text 20"/>
          <p:cNvSpPr/>
          <p:nvPr/>
        </p:nvSpPr>
        <p:spPr>
          <a:xfrm>
            <a:off x="1097280" y="310438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make contributions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3543300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66744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7216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92" dirty="0"/>
          </a:p>
        </p:txBody>
      </p:sp>
      <p:sp>
        <p:nvSpPr>
          <p:cNvPr id="27" name="Text 25"/>
          <p:cNvSpPr/>
          <p:nvPr/>
        </p:nvSpPr>
        <p:spPr>
          <a:xfrm>
            <a:off x="1097280" y="3666744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recorded &amp; verified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4105656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29100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28396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839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92" dirty="0"/>
          </a:p>
        </p:txBody>
      </p:sp>
      <p:sp>
        <p:nvSpPr>
          <p:cNvPr id="32" name="Text 30"/>
          <p:cNvSpPr/>
          <p:nvPr/>
        </p:nvSpPr>
        <p:spPr>
          <a:xfrm>
            <a:off x="1097280" y="422910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receipts generated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4668012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91456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8463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846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92" dirty="0"/>
          </a:p>
        </p:txBody>
      </p:sp>
      <p:sp>
        <p:nvSpPr>
          <p:cNvPr id="37" name="Text 35"/>
          <p:cNvSpPr/>
          <p:nvPr/>
        </p:nvSpPr>
        <p:spPr>
          <a:xfrm>
            <a:off x="1097280" y="4791456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cycle tracked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66928" y="5230368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353812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540867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4086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92" dirty="0"/>
          </a:p>
        </p:txBody>
      </p:sp>
      <p:sp>
        <p:nvSpPr>
          <p:cNvPr id="42" name="Text 40"/>
          <p:cNvSpPr/>
          <p:nvPr/>
        </p:nvSpPr>
        <p:spPr>
          <a:xfrm>
            <a:off x="1097280" y="535381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activity logged in audit trail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66928" y="5792724"/>
            <a:ext cx="2743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916168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E9F7EF"/>
          </a:solidFill>
          <a:ln w="15875">
            <a:solidFill>
              <a:srgbClr val="1F9D6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" y="5971032"/>
            <a:ext cx="347472" cy="347472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5971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92" dirty="0"/>
          </a:p>
        </p:txBody>
      </p:sp>
      <p:sp>
        <p:nvSpPr>
          <p:cNvPr id="47" name="Text 45"/>
          <p:cNvSpPr/>
          <p:nvPr/>
        </p:nvSpPr>
        <p:spPr>
          <a:xfrm>
            <a:off x="1097280" y="591616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 flags unusual patterns for review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132320" y="1417320"/>
            <a:ext cx="4507992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06640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EMPHASIS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06640" y="2084832"/>
            <a:ext cx="109728" cy="109728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51" name="Text 49"/>
          <p:cNvSpPr/>
          <p:nvPr/>
        </p:nvSpPr>
        <p:spPr>
          <a:xfrm>
            <a:off x="7644384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06640" y="2587752"/>
            <a:ext cx="109728" cy="109728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53" name="Text 51"/>
          <p:cNvSpPr/>
          <p:nvPr/>
        </p:nvSpPr>
        <p:spPr>
          <a:xfrm>
            <a:off x="7644384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06640" y="3090672"/>
            <a:ext cx="109728" cy="109728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55" name="Text 53"/>
          <p:cNvSpPr/>
          <p:nvPr/>
        </p:nvSpPr>
        <p:spPr>
          <a:xfrm>
            <a:off x="7644384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06640" y="3593592"/>
            <a:ext cx="109728" cy="109728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57" name="Text 55"/>
          <p:cNvSpPr/>
          <p:nvPr/>
        </p:nvSpPr>
        <p:spPr>
          <a:xfrm>
            <a:off x="7644384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406640" y="4096512"/>
            <a:ext cx="109728" cy="109728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59" name="Text 57"/>
          <p:cNvSpPr/>
          <p:nvPr/>
        </p:nvSpPr>
        <p:spPr>
          <a:xfrm>
            <a:off x="7644384" y="3977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of Management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132320" y="4846320"/>
            <a:ext cx="4507992" cy="1325880"/>
          </a:xfrm>
          <a:prstGeom prst="roundRect">
            <a:avLst>
              <a:gd name="adj" fmla="val 68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60920" y="5029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 so that what happened, when, and by whom is always reconstructable — turning trust-based recordkeeping into a shared, verifiable system.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SaveCircle Delivers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18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creation &amp; management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tracking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cycle management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141732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618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Features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9432" y="210312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verification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Tamper-resistant transaction history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modification / correction 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93024" y="141732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E9F7E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21624" y="1618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Enhancement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21624" y="203911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F9D63"/>
          </a:solidFill>
          <a:ln/>
        </p:spPr>
      </p:sp>
      <p:sp>
        <p:nvSpPr>
          <p:cNvPr id="13" name="Text 11"/>
          <p:cNvSpPr/>
          <p:nvPr/>
        </p:nvSpPr>
        <p:spPr>
          <a:xfrm>
            <a:off x="8421624" y="203911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ENHANCEMENT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21624" y="246888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anomaly detection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behaviour alerts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reasons for alerts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Human/admin review — not automatic fraud accusation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AI/ML layer is an enhancement proposed by the team, in addition to the secure digitization required by Omni_FinTech_9.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Flows Through SaveCircle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3118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272125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admins &amp; members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0440" y="19202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29968"/>
            <a:ext cx="3118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029968"/>
            <a:ext cx="272125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257860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88336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688336"/>
            <a:ext cx="3118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688336"/>
            <a:ext cx="272125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323697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346704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346704"/>
            <a:ext cx="3118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346704"/>
            <a:ext cx="272125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sessions, role checks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389534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005072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1148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4443984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2A3374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4439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Mgmt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34640" y="4443984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2A3374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44439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Mgmt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4443984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2A3374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4439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Mgmt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840" y="491947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2A3374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9194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Mgmt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34640" y="491947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2A3374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49194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Cycle Mgmt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4919472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2A3374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49194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540410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5513832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" y="5513832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07208" y="5513832"/>
            <a:ext cx="357164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(MVP) → PostgreSQL (scale)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0" y="1371600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REVIEW PATH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1737360"/>
            <a:ext cx="4782312" cy="822960"/>
          </a:xfrm>
          <a:prstGeom prst="roundRect">
            <a:avLst>
              <a:gd name="adj" fmla="val 8889"/>
            </a:avLst>
          </a:prstGeom>
          <a:solidFill>
            <a:srgbClr val="E9F7EF"/>
          </a:solidFill>
          <a:ln w="12700">
            <a:solidFill>
              <a:srgbClr val="1F9D6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22592" y="1883664"/>
            <a:ext cx="502920" cy="50292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41" name="Text 39"/>
          <p:cNvSpPr/>
          <p:nvPr/>
        </p:nvSpPr>
        <p:spPr>
          <a:xfrm>
            <a:off x="7022592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42" name="Text 40"/>
          <p:cNvSpPr/>
          <p:nvPr/>
        </p:nvSpPr>
        <p:spPr>
          <a:xfrm>
            <a:off x="7680960" y="184708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Detection Engine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80960" y="2139696"/>
            <a:ext cx="3822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76288" y="25603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0" y="2816352"/>
            <a:ext cx="4782312" cy="822960"/>
          </a:xfrm>
          <a:prstGeom prst="roundRect">
            <a:avLst>
              <a:gd name="adj" fmla="val 8889"/>
            </a:avLst>
          </a:prstGeom>
          <a:solidFill>
            <a:srgbClr val="E9F7EF"/>
          </a:solidFill>
          <a:ln w="12700">
            <a:solidFill>
              <a:srgbClr val="1F9D6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022592" y="2962656"/>
            <a:ext cx="502920" cy="50292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47" name="Text 45"/>
          <p:cNvSpPr/>
          <p:nvPr/>
        </p:nvSpPr>
        <p:spPr>
          <a:xfrm>
            <a:off x="7022592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48" name="Text 46"/>
          <p:cNvSpPr/>
          <p:nvPr/>
        </p:nvSpPr>
        <p:spPr>
          <a:xfrm>
            <a:off x="7680960" y="292608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Alerts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680960" y="3218688"/>
            <a:ext cx="3822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transactions, explainable reasons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76288" y="36393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0" y="3895344"/>
            <a:ext cx="4782312" cy="822960"/>
          </a:xfrm>
          <a:prstGeom prst="roundRect">
            <a:avLst>
              <a:gd name="adj" fmla="val 8889"/>
            </a:avLst>
          </a:prstGeom>
          <a:solidFill>
            <a:srgbClr val="E9F7EF"/>
          </a:solidFill>
          <a:ln w="12700">
            <a:solidFill>
              <a:srgbClr val="1F9D6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022592" y="4041648"/>
            <a:ext cx="502920" cy="50292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53" name="Text 51"/>
          <p:cNvSpPr/>
          <p:nvPr/>
        </p:nvSpPr>
        <p:spPr>
          <a:xfrm>
            <a:off x="7022592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54" name="Text 52"/>
          <p:cNvSpPr/>
          <p:nvPr/>
        </p:nvSpPr>
        <p:spPr>
          <a:xfrm>
            <a:off x="7680960" y="400507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Dashboard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80960" y="4297680"/>
            <a:ext cx="3822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 — no auto-action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0" y="5020056"/>
            <a:ext cx="4782312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086600" y="5202936"/>
            <a:ext cx="43251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 sits alongside the core system, reading transaction data and returning a risk score. It never blocks a transaction or accuses a member automatically — every flag routes to an admin for review.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 Stack — Round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023360" cy="365760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not yet fully implemented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6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Technologies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Flask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(MVP)  →  PostgreSQL (production / scaling)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Pandas, NumPy, 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 or Plotly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hashing, authentication, RBAC, audit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/ Railway / Vercel (deployment target to be finalized)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0" y="566928"/>
            <a:ext cx="3776472" cy="384048"/>
          </a:xfrm>
          <a:prstGeom prst="roundRect">
            <a:avLst>
              <a:gd name="adj" fmla="val 50000"/>
            </a:avLst>
          </a:prstGeom>
          <a:solidFill>
            <a:srgbClr val="FBF3E3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566928"/>
            <a:ext cx="3776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plan, not a claim of completed 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108606" cy="4663440"/>
          </a:xfrm>
          <a:prstGeom prst="roundRect">
            <a:avLst>
              <a:gd name="adj" fmla="val 390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1483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351483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9257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&amp; Authentication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880360"/>
            <a:ext cx="177942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/ login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2638958" y="37033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94406" y="1508760"/>
            <a:ext cx="2108606" cy="4663440"/>
          </a:xfrm>
          <a:prstGeom prst="roundRect">
            <a:avLst>
              <a:gd name="adj" fmla="val 390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7250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9725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2885846" y="2331720"/>
            <a:ext cx="19257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Savings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58998" y="2880360"/>
            <a:ext cx="177942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cycles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884725" y="37033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40173" y="1508760"/>
            <a:ext cx="2108606" cy="4663440"/>
          </a:xfrm>
          <a:prstGeom prst="roundRect">
            <a:avLst>
              <a:gd name="adj" fmla="val 390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43016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843016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21" name="Text 19"/>
          <p:cNvSpPr/>
          <p:nvPr/>
        </p:nvSpPr>
        <p:spPr>
          <a:xfrm>
            <a:off x="5131613" y="2331720"/>
            <a:ext cx="19257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Transparency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04765" y="2880360"/>
            <a:ext cx="177942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verification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receipts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corrections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7130491" y="37033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85939" y="1508760"/>
            <a:ext cx="2108606" cy="4663440"/>
          </a:xfrm>
          <a:prstGeom prst="roundRect">
            <a:avLst>
              <a:gd name="adj" fmla="val 3903"/>
            </a:avLst>
          </a:prstGeom>
          <a:solidFill>
            <a:srgbClr val="E9F7EF"/>
          </a:solidFill>
          <a:ln w="12700">
            <a:solidFill>
              <a:srgbClr val="1F9D6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8782" y="1709928"/>
            <a:ext cx="502920" cy="50292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26" name="Text 24"/>
          <p:cNvSpPr/>
          <p:nvPr/>
        </p:nvSpPr>
        <p:spPr>
          <a:xfrm>
            <a:off x="8088782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7377379" y="2331720"/>
            <a:ext cx="19257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50531" y="2880360"/>
            <a:ext cx="177942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dataset prep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alerts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9376258" y="37033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31706" y="1508760"/>
            <a:ext cx="2108606" cy="4663440"/>
          </a:xfrm>
          <a:prstGeom prst="roundRect">
            <a:avLst>
              <a:gd name="adj" fmla="val 390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34549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4549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0" dirty="0"/>
          </a:p>
        </p:txBody>
      </p:sp>
      <p:sp>
        <p:nvSpPr>
          <p:cNvPr id="33" name="Text 31"/>
          <p:cNvSpPr/>
          <p:nvPr/>
        </p:nvSpPr>
        <p:spPr>
          <a:xfrm>
            <a:off x="9623146" y="2331720"/>
            <a:ext cx="19257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Deployment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96298" y="2880360"/>
            <a:ext cx="177942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7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97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Each Stakeholder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18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Savings Groups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transparency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contribution tracking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dependence on paper records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accountability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dispute resolution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of group finances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organized savings-cycle management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14173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E9F7E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618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219456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verification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alerts to guide review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93024" y="141732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21624" y="1618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21624" y="219456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contribution history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into group activity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trust through transparent records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7607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FinTech relevance: SaveCircle brings auditable, formal-style recordkeeping to informal savings groups — extending the trust and transparency of digital finance to a segment that has largely operated outside 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SaveCircle · Omni_FinTech_9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REVIEWER NOTES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SaveCircle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101291" cy="1417320"/>
          </a:xfrm>
          <a:prstGeom prst="roundRect">
            <a:avLst>
              <a:gd name="adj" fmla="val 5161"/>
            </a:avLst>
          </a:prstGeom>
          <a:solidFill>
            <a:srgbClr val="2A3374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0686" y="1581912"/>
            <a:ext cx="457200" cy="45720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7" name="Text 5"/>
          <p:cNvSpPr/>
          <p:nvPr/>
        </p:nvSpPr>
        <p:spPr>
          <a:xfrm>
            <a:off x="1370686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1918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Product &amp; Backend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587752"/>
            <a:ext cx="19184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96235" y="1417320"/>
            <a:ext cx="2101291" cy="1417320"/>
          </a:xfrm>
          <a:prstGeom prst="roundRect">
            <a:avLst>
              <a:gd name="adj" fmla="val 5161"/>
            </a:avLst>
          </a:prstGeom>
          <a:solidFill>
            <a:srgbClr val="2A3374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8281" y="1581912"/>
            <a:ext cx="457200" cy="45720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8281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87675" y="2130552"/>
            <a:ext cx="1918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87675" y="2587752"/>
            <a:ext cx="19184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2]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3830" y="1417320"/>
            <a:ext cx="2101291" cy="1417320"/>
          </a:xfrm>
          <a:prstGeom prst="roundRect">
            <a:avLst>
              <a:gd name="adj" fmla="val 5161"/>
            </a:avLst>
          </a:prstGeom>
          <a:solidFill>
            <a:srgbClr val="2A3374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65876" y="1581912"/>
            <a:ext cx="457200" cy="45720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17" name="Text 15"/>
          <p:cNvSpPr/>
          <p:nvPr/>
        </p:nvSpPr>
        <p:spPr>
          <a:xfrm>
            <a:off x="5865876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35270" y="2130552"/>
            <a:ext cx="1918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35270" y="2587752"/>
            <a:ext cx="19184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3]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1426" y="1417320"/>
            <a:ext cx="2101291" cy="1417320"/>
          </a:xfrm>
          <a:prstGeom prst="roundRect">
            <a:avLst>
              <a:gd name="adj" fmla="val 5161"/>
            </a:avLst>
          </a:prstGeom>
          <a:solidFill>
            <a:srgbClr val="2A3374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13471" y="1581912"/>
            <a:ext cx="457200" cy="45720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22" name="Text 20"/>
          <p:cNvSpPr/>
          <p:nvPr/>
        </p:nvSpPr>
        <p:spPr>
          <a:xfrm>
            <a:off x="8113471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82866" y="2130552"/>
            <a:ext cx="1918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Security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82866" y="2587752"/>
            <a:ext cx="19184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4]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39021" y="1417320"/>
            <a:ext cx="2101291" cy="1417320"/>
          </a:xfrm>
          <a:prstGeom prst="roundRect">
            <a:avLst>
              <a:gd name="adj" fmla="val 5161"/>
            </a:avLst>
          </a:prstGeom>
          <a:solidFill>
            <a:srgbClr val="2A3374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61066" y="1581912"/>
            <a:ext cx="457200" cy="457200"/>
          </a:xfrm>
          <a:prstGeom prst="ellipse">
            <a:avLst/>
          </a:prstGeom>
          <a:solidFill>
            <a:srgbClr val="1F9D63"/>
          </a:solidFill>
          <a:ln/>
        </p:spPr>
      </p:sp>
      <p:sp>
        <p:nvSpPr>
          <p:cNvPr id="27" name="Text 25"/>
          <p:cNvSpPr/>
          <p:nvPr/>
        </p:nvSpPr>
        <p:spPr>
          <a:xfrm>
            <a:off x="10361066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30461" y="2130552"/>
            <a:ext cx="19184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/ Documentation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30461" y="2587752"/>
            <a:ext cx="19184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5]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2971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[TO BE FILLED]   ·   College / University: [TO BE FILLED]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429000"/>
            <a:ext cx="110916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NOTES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0233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as a secure digital platform for community savings groups, directly addressing Omni_FinTech_9.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anomaly detection is an enhancement to the core digitization solution — not part of the original problem statement.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system is intended to support human review, not to automatically label members as fraudulent.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40233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version can use a controlled, anonymized, or synthetic dataset for development and testing.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designed to be scalable toward real-world deployment.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focuses on transparency, security, traceability, and responsible use of AI.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2026-08-22T09:01:49Z</dcterms:created>
  <dcterms:modified xsi:type="dcterms:W3CDTF">2026-08-22T09:01:49Z</dcterms:modified>
</cp:coreProperties>
</file>